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5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az Hassan" initials="MH" lastIdx="2" clrIdx="0">
    <p:extLst>
      <p:ext uri="{19B8F6BF-5375-455C-9EA6-DF929625EA0E}">
        <p15:presenceInfo xmlns:p15="http://schemas.microsoft.com/office/powerpoint/2012/main" userId="161525f7b27b2be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2E6DC-A83D-4787-884D-AE9BCE3EF0FF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B20348-D838-4C35-A47B-BBA9F8E89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395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119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7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9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4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21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4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79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494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7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326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62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5403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49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1652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89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80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06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380064A-6F85-489D-A7A7-E3E7F718B907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4E53AD8-E3C5-4267-92B3-13A028694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07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86" r:id="rId1"/>
    <p:sldLayoutId id="2147484287" r:id="rId2"/>
    <p:sldLayoutId id="2147484288" r:id="rId3"/>
    <p:sldLayoutId id="2147484289" r:id="rId4"/>
    <p:sldLayoutId id="2147484290" r:id="rId5"/>
    <p:sldLayoutId id="2147484291" r:id="rId6"/>
    <p:sldLayoutId id="2147484292" r:id="rId7"/>
    <p:sldLayoutId id="2147484293" r:id="rId8"/>
    <p:sldLayoutId id="2147484294" r:id="rId9"/>
    <p:sldLayoutId id="2147484295" r:id="rId10"/>
    <p:sldLayoutId id="2147484296" r:id="rId11"/>
    <p:sldLayoutId id="2147484297" r:id="rId12"/>
    <p:sldLayoutId id="2147484298" r:id="rId13"/>
    <p:sldLayoutId id="2147484299" r:id="rId14"/>
    <p:sldLayoutId id="2147484300" r:id="rId15"/>
    <p:sldLayoutId id="2147484301" r:id="rId16"/>
    <p:sldLayoutId id="214748430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133EAB-2E27-F334-75D0-B03708F2DBB2}"/>
              </a:ext>
            </a:extLst>
          </p:cNvPr>
          <p:cNvSpPr txBox="1"/>
          <p:nvPr/>
        </p:nvSpPr>
        <p:spPr>
          <a:xfrm>
            <a:off x="950202" y="1264386"/>
            <a:ext cx="6108852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Group Members:</a:t>
            </a:r>
          </a:p>
          <a:p>
            <a:endParaRPr lang="en-US" sz="32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Maaz hassan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Abdullah Akbar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Mujtaba Imtiaz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Mohammad Sarim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Ali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/>
              <a:t>Course Instructor: </a:t>
            </a:r>
            <a:r>
              <a:rPr lang="en-US" sz="3200" dirty="0"/>
              <a:t>Ms. Ramsha Khalid</a:t>
            </a:r>
          </a:p>
          <a:p>
            <a:endParaRPr lang="en-US" sz="18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E0AFC-6337-83DC-6EF3-485ED5CEE78B}"/>
              </a:ext>
            </a:extLst>
          </p:cNvPr>
          <p:cNvSpPr txBox="1"/>
          <p:nvPr/>
        </p:nvSpPr>
        <p:spPr>
          <a:xfrm>
            <a:off x="870333" y="459817"/>
            <a:ext cx="10135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u="sng" dirty="0"/>
              <a:t>PROJECT NAME: SCHOOL ADMISSION PORTAL</a:t>
            </a:r>
            <a:r>
              <a:rPr lang="en-US" sz="1800" b="1" u="sng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0BCF56-D256-DD8A-6898-0D2BF16AE99F}"/>
              </a:ext>
            </a:extLst>
          </p:cNvPr>
          <p:cNvSpPr txBox="1"/>
          <p:nvPr/>
        </p:nvSpPr>
        <p:spPr>
          <a:xfrm>
            <a:off x="1464242" y="77117"/>
            <a:ext cx="901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/>
              <a:t>BRIGHT FUTURE PUBLIC SCHOOL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639209-1BC1-0300-9103-4E027F2D8A3F}"/>
              </a:ext>
            </a:extLst>
          </p:cNvPr>
          <p:cNvSpPr txBox="1"/>
          <p:nvPr/>
        </p:nvSpPr>
        <p:spPr>
          <a:xfrm>
            <a:off x="1013552" y="859319"/>
            <a:ext cx="90338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Why Do We Need a Student Admission Portal</a:t>
            </a:r>
            <a:endParaRPr lang="en-US" b="1" dirty="0"/>
          </a:p>
          <a:p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27B203-C715-64BE-3EDD-81D217F57ECB}"/>
              </a:ext>
            </a:extLst>
          </p:cNvPr>
          <p:cNvSpPr/>
          <p:nvPr/>
        </p:nvSpPr>
        <p:spPr>
          <a:xfrm>
            <a:off x="121187" y="2153800"/>
            <a:ext cx="3459296" cy="40542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  	Streamlined     	Admissions</a:t>
            </a:r>
          </a:p>
          <a:p>
            <a:r>
              <a:rPr lang="en-US" sz="2100" dirty="0">
                <a:solidFill>
                  <a:schemeClr val="bg1"/>
                </a:solidFill>
              </a:rPr>
              <a:t>Simplify and centralize the entire admission process for both parents and administrative staff, making it more efficient and less time-consuming.</a:t>
            </a:r>
          </a:p>
          <a:p>
            <a:pPr algn="ctr"/>
            <a:endParaRPr lang="en-US" sz="21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494B1A-2C9E-95AB-F0F8-3C30069A2821}"/>
              </a:ext>
            </a:extLst>
          </p:cNvPr>
          <p:cNvSpPr/>
          <p:nvPr/>
        </p:nvSpPr>
        <p:spPr>
          <a:xfrm>
            <a:off x="3955054" y="2148291"/>
            <a:ext cx="3591500" cy="405420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Reduced Errors &amp; Paperwork</a:t>
            </a:r>
          </a:p>
          <a:p>
            <a:r>
              <a:rPr lang="en-US" sz="2100" dirty="0">
                <a:solidFill>
                  <a:schemeClr val="bg1"/>
                </a:solidFill>
              </a:rPr>
              <a:t>Minimize manual data entry, significantly reducing the chances of errors and decreasing the extensive paperwork traditionally associated with admissions.</a:t>
            </a:r>
          </a:p>
          <a:p>
            <a:pPr algn="ctr"/>
            <a:endParaRPr lang="en-US" sz="2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58F3AA-0C92-376B-F961-19CD3543646C}"/>
              </a:ext>
            </a:extLst>
          </p:cNvPr>
          <p:cNvSpPr/>
          <p:nvPr/>
        </p:nvSpPr>
        <p:spPr>
          <a:xfrm>
            <a:off x="8053329" y="2049138"/>
            <a:ext cx="3591500" cy="424149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bg2">
                    <a:lumMod val="50000"/>
                  </a:schemeClr>
                </a:solidFill>
              </a:rPr>
              <a:t>24/7 Accessibility</a:t>
            </a:r>
          </a:p>
          <a:p>
            <a:endParaRPr lang="en-US" sz="2100" b="1" dirty="0">
              <a:solidFill>
                <a:schemeClr val="bg1"/>
              </a:solidFill>
            </a:endParaRPr>
          </a:p>
          <a:p>
            <a:r>
              <a:rPr lang="en-US" sz="2100" dirty="0">
                <a:solidFill>
                  <a:schemeClr val="bg1"/>
                </a:solidFill>
              </a:rPr>
              <a:t>Provide continuous access for families to apply, check application status, and obtain crucial information at their convenience, anytime, anywhere.</a:t>
            </a:r>
          </a:p>
        </p:txBody>
      </p:sp>
    </p:spTree>
    <p:extLst>
      <p:ext uri="{BB962C8B-B14F-4D97-AF65-F5344CB8AC3E}">
        <p14:creationId xmlns:p14="http://schemas.microsoft.com/office/powerpoint/2010/main" val="1637856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727F-7A4B-8FD3-66C8-E47F05F9D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11" y="506777"/>
            <a:ext cx="6977101" cy="683045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ABOUT BRIGHT FUTURE PUBLIC SCHOOL</a:t>
            </a:r>
            <a:endParaRPr lang="en-US" b="1" dirty="0"/>
          </a:p>
        </p:txBody>
      </p:sp>
      <p:pic>
        <p:nvPicPr>
          <p:cNvPr id="1026" name="Picture 2" descr="5+ Thousand Children Coming School Royalty-Free Images, Stock Photos &amp;  Pictures | Shutterstock">
            <a:extLst>
              <a:ext uri="{FF2B5EF4-FFF2-40B4-BE49-F238E27FC236}">
                <a16:creationId xmlns:a16="http://schemas.microsoft.com/office/drawing/2014/main" id="{39A24F5C-DC37-D475-62CC-F8EB935C55D1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15" r="14115"/>
          <a:stretch>
            <a:fillRect/>
          </a:stretch>
        </p:blipFill>
        <p:spPr bwMode="auto">
          <a:xfrm>
            <a:off x="492089" y="208595"/>
            <a:ext cx="4088156" cy="615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A1A7A-1CF3-6242-D946-56F087D06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2812" y="1123721"/>
            <a:ext cx="6977100" cy="52440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At Bright Future Public School, we are deeply committed to nurturing young minds with a high standard of quality education. Our philosophy centers on creating an environment where every child can thrive.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We focus on fostering creativity, ensuring student safety, and promoting holistic development, preparing students not just academically, but as well-rounded individuals ready for the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Serving our community with unwavering transparency and embracing innovative approaches, we strive to make the admission process reflective of our core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65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7E47F40-3A1C-E3EF-9610-15EB4C2C7770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" r="119"/>
          <a:stretch>
            <a:fillRect/>
          </a:stretch>
        </p:blipFill>
        <p:spPr>
          <a:xfrm>
            <a:off x="0" y="0"/>
            <a:ext cx="12192000" cy="2370138"/>
          </a:xfrm>
          <a:prstGeom prst="snip2DiagRect">
            <a:avLst>
              <a:gd name="adj1" fmla="val 591"/>
              <a:gd name="adj2" fmla="val 0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40EA105-0722-6C3A-5279-C4AA4DBC8617}"/>
              </a:ext>
            </a:extLst>
          </p:cNvPr>
          <p:cNvSpPr/>
          <p:nvPr/>
        </p:nvSpPr>
        <p:spPr>
          <a:xfrm>
            <a:off x="1" y="2357608"/>
            <a:ext cx="4351662" cy="4500392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   </a:t>
            </a:r>
            <a:r>
              <a:rPr lang="en-US" sz="2800" b="1" dirty="0">
                <a:solidFill>
                  <a:schemeClr val="accent1"/>
                </a:solidFill>
              </a:rPr>
              <a:t>Online Application</a:t>
            </a: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Parents complete a structured 5-step application form covering student information, academic history, and family background. Supports bulk document uploads (transcripts, birth certificates, immunization records) with real-time file validation and automatic organization.</a:t>
            </a:r>
          </a:p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E9BD03-F241-679C-41E6-DC56AE7D456B}"/>
              </a:ext>
            </a:extLst>
          </p:cNvPr>
          <p:cNvSpPr/>
          <p:nvPr/>
        </p:nvSpPr>
        <p:spPr>
          <a:xfrm>
            <a:off x="4351663" y="2370138"/>
            <a:ext cx="4054207" cy="44878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B5EF2E-CAA4-1B32-3DFD-2EE3A4356FF5}"/>
              </a:ext>
            </a:extLst>
          </p:cNvPr>
          <p:cNvSpPr txBox="1"/>
          <p:nvPr/>
        </p:nvSpPr>
        <p:spPr>
          <a:xfrm>
            <a:off x="4153360" y="2357608"/>
            <a:ext cx="4054205" cy="4493538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accent1"/>
                </a:solidFill>
              </a:rPr>
              <a:t>Automated Eligibility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System instantly verifies age requirements, residency status, and document completeness against school criteria. Applicants receive SMS and email notifications at each stage: submission confirmation, eligibility verification, interview scheduling, and final decision.</a:t>
            </a:r>
          </a:p>
          <a:p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AFA9D6-E218-6268-B91A-397109158816}"/>
              </a:ext>
            </a:extLst>
          </p:cNvPr>
          <p:cNvSpPr/>
          <p:nvPr/>
        </p:nvSpPr>
        <p:spPr>
          <a:xfrm>
            <a:off x="8405869" y="2364462"/>
            <a:ext cx="3786130" cy="44935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DB4AF6C-550F-97EC-5BD0-F7CB0B821431}"/>
              </a:ext>
            </a:extLst>
          </p:cNvPr>
          <p:cNvSpPr txBox="1"/>
          <p:nvPr/>
        </p:nvSpPr>
        <p:spPr>
          <a:xfrm>
            <a:off x="8703325" y="2809301"/>
            <a:ext cx="34189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Data Management</a:t>
            </a:r>
          </a:p>
          <a:p>
            <a:r>
              <a:rPr lang="en-US" dirty="0"/>
              <a:t>All data encrypted with AES-256 encryption and stored on FERPA-compliant servers. Role-based access controls ensure only authorized staff view sensitive information. Automatic audit logs track all data access and modifications for compliance reporting.</a:t>
            </a:r>
          </a:p>
        </p:txBody>
      </p:sp>
      <p:sp>
        <p:nvSpPr>
          <p:cNvPr id="2049" name="TextBox 2048">
            <a:extLst>
              <a:ext uri="{FF2B5EF4-FFF2-40B4-BE49-F238E27FC236}">
                <a16:creationId xmlns:a16="http://schemas.microsoft.com/office/drawing/2014/main" id="{9DB4AF6C-550F-97EC-5BD0-F7CB0B821431}"/>
              </a:ext>
            </a:extLst>
          </p:cNvPr>
          <p:cNvSpPr txBox="1"/>
          <p:nvPr/>
        </p:nvSpPr>
        <p:spPr>
          <a:xfrm>
            <a:off x="8156150" y="2325723"/>
            <a:ext cx="4028502" cy="4462760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	</a:t>
            </a:r>
            <a:r>
              <a:rPr lang="en-US" sz="2400" b="1" dirty="0">
                <a:solidFill>
                  <a:schemeClr val="accent1"/>
                </a:solidFill>
              </a:rPr>
              <a:t>DATA PROTECTION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All data encrypted with AES-256 encryption and stored on FERPA-compliant servers. Role-based access controls ensure only authorized staff view sensitive information. Automatic audit logs track all data access and modifications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61362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D1747F-CF47-CE1D-B1FC-2EA2352698A1}"/>
              </a:ext>
            </a:extLst>
          </p:cNvPr>
          <p:cNvSpPr/>
          <p:nvPr/>
        </p:nvSpPr>
        <p:spPr>
          <a:xfrm>
            <a:off x="11015" y="661010"/>
            <a:ext cx="5640637" cy="2889237"/>
          </a:xfrm>
          <a:prstGeom prst="roundRect">
            <a:avLst>
              <a:gd name="adj" fmla="val 20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ACCA9-C707-D97F-2C10-344BCE51015A}"/>
              </a:ext>
            </a:extLst>
          </p:cNvPr>
          <p:cNvSpPr txBox="1"/>
          <p:nvPr/>
        </p:nvSpPr>
        <p:spPr>
          <a:xfrm>
            <a:off x="99151" y="-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USER EXPERIENCE:PARENTS &amp; STAFF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30132-715B-DFCC-4687-A28BDA83111C}"/>
              </a:ext>
            </a:extLst>
          </p:cNvPr>
          <p:cNvSpPr txBox="1"/>
          <p:nvPr/>
        </p:nvSpPr>
        <p:spPr>
          <a:xfrm>
            <a:off x="9155" y="661010"/>
            <a:ext cx="5642497" cy="30623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For Parents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Our intuitive portal allows parents to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Apply for admission at their convenience, 24/7.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Track the real-time progress of their child's application.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Receive automated updates and notifications regarding status change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2C5F55-A364-BB72-8069-54973EC9E7A4}"/>
              </a:ext>
            </a:extLst>
          </p:cNvPr>
          <p:cNvSpPr/>
          <p:nvPr/>
        </p:nvSpPr>
        <p:spPr>
          <a:xfrm>
            <a:off x="9155" y="3550247"/>
            <a:ext cx="5640636" cy="3283031"/>
          </a:xfrm>
          <a:prstGeom prst="roundRect">
            <a:avLst>
              <a:gd name="adj" fmla="val 203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accent1"/>
                </a:solidFill>
              </a:rPr>
              <a:t>For Staff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The staff dashboard provides comprehensive tools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Efficient review and management of all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Seamless communication with applicants and internal teams.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Informed decision-making with organized student profiles.</a:t>
            </a:r>
          </a:p>
          <a:p>
            <a:endParaRPr lang="en-US" dirty="0"/>
          </a:p>
        </p:txBody>
      </p:sp>
      <p:pic>
        <p:nvPicPr>
          <p:cNvPr id="3074" name="Picture 2" descr="254+ Thousand Child Laptop Royalty-Free Images, Stock Photos &amp; Pictures |  Shutterstock">
            <a:extLst>
              <a:ext uri="{FF2B5EF4-FFF2-40B4-BE49-F238E27FC236}">
                <a16:creationId xmlns:a16="http://schemas.microsoft.com/office/drawing/2014/main" id="{B638EF8C-D76B-A122-31C9-A845F6D80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3564" y="707882"/>
            <a:ext cx="6289279" cy="612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8201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58603-E03D-3E28-C5B5-40EEE80E806B}"/>
              </a:ext>
            </a:extLst>
          </p:cNvPr>
          <p:cNvSpPr txBox="1"/>
          <p:nvPr/>
        </p:nvSpPr>
        <p:spPr>
          <a:xfrm>
            <a:off x="0" y="25338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Technology Behind the Portal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176DB-BE65-E356-B4C5-BADF18385163}"/>
              </a:ext>
            </a:extLst>
          </p:cNvPr>
          <p:cNvSpPr/>
          <p:nvPr/>
        </p:nvSpPr>
        <p:spPr>
          <a:xfrm>
            <a:off x="0" y="1035586"/>
            <a:ext cx="3501528" cy="33615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36C9CC-C5E9-60BF-AFF3-5C8045C1502E}"/>
              </a:ext>
            </a:extLst>
          </p:cNvPr>
          <p:cNvSpPr txBox="1"/>
          <p:nvPr/>
        </p:nvSpPr>
        <p:spPr>
          <a:xfrm>
            <a:off x="165253" y="1134737"/>
            <a:ext cx="3029639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User-Friendly Design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Developed with an intuitive interface for ease of use, ensuring seamless navigation on both desktop and mobile devices.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04D9E3-CCDC-082A-396F-93DD6153FA25}"/>
              </a:ext>
            </a:extLst>
          </p:cNvPr>
          <p:cNvSpPr/>
          <p:nvPr/>
        </p:nvSpPr>
        <p:spPr>
          <a:xfrm>
            <a:off x="3501528" y="1035585"/>
            <a:ext cx="3692486" cy="336158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505B4-D0AF-A288-558C-6B621F9E245E}"/>
              </a:ext>
            </a:extLst>
          </p:cNvPr>
          <p:cNvSpPr txBox="1"/>
          <p:nvPr/>
        </p:nvSpPr>
        <p:spPr>
          <a:xfrm>
            <a:off x="3613532" y="1134737"/>
            <a:ext cx="35804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Robust &amp; Secure Backend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Powered by a strong infrastructure that guarantees data security, privacy, and fast processing of all information</a:t>
            </a:r>
            <a:r>
              <a:rPr lang="en-US" sz="2100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: Single Corner Rounded 8">
            <a:extLst>
              <a:ext uri="{FF2B5EF4-FFF2-40B4-BE49-F238E27FC236}">
                <a16:creationId xmlns:a16="http://schemas.microsoft.com/office/drawing/2014/main" id="{F8285E4B-E856-C3E5-CEFD-FFF99737FE8B}"/>
              </a:ext>
            </a:extLst>
          </p:cNvPr>
          <p:cNvSpPr/>
          <p:nvPr/>
        </p:nvSpPr>
        <p:spPr>
          <a:xfrm>
            <a:off x="0" y="4397169"/>
            <a:ext cx="7194013" cy="2460832"/>
          </a:xfrm>
          <a:prstGeom prst="round1Rect">
            <a:avLst>
              <a:gd name="adj" fmla="val 4672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7D22F6-7E65-A276-C937-FEC1B92CE21F}"/>
              </a:ext>
            </a:extLst>
          </p:cNvPr>
          <p:cNvSpPr txBox="1"/>
          <p:nvPr/>
        </p:nvSpPr>
        <p:spPr>
          <a:xfrm>
            <a:off x="165253" y="4439794"/>
            <a:ext cx="7028760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Scalable Performance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100" dirty="0"/>
              <a:t>Engineered to scale efficiently, the portal can handle high traffic volumes and peak admission periods without performance issues.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100" name="Picture 4" descr="Creating Connections Ltd">
            <a:extLst>
              <a:ext uri="{FF2B5EF4-FFF2-40B4-BE49-F238E27FC236}">
                <a16:creationId xmlns:a16="http://schemas.microsoft.com/office/drawing/2014/main" id="{BBD58936-E61D-2450-22A2-016A479889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649" y="1035585"/>
            <a:ext cx="4526098" cy="534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623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CCF148D5-E814-5812-3FAB-1D662D611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20" y="7037"/>
            <a:ext cx="11843133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			   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Benefits to Bright Future Public School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10475-F099-2DA7-1243-C68BDDC0E9FE}"/>
              </a:ext>
            </a:extLst>
          </p:cNvPr>
          <p:cNvSpPr txBox="1"/>
          <p:nvPr/>
        </p:nvSpPr>
        <p:spPr>
          <a:xfrm>
            <a:off x="3367490" y="868811"/>
            <a:ext cx="86151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Faster Cycles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Significant reduction in admission processing time and administrative workload.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CD841-2F23-F532-F598-F9217766F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8" y="679697"/>
            <a:ext cx="1451301" cy="15785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348A99-D68E-673D-81CA-956F06FCD2A6}"/>
              </a:ext>
            </a:extLst>
          </p:cNvPr>
          <p:cNvSpPr txBox="1"/>
          <p:nvPr/>
        </p:nvSpPr>
        <p:spPr>
          <a:xfrm>
            <a:off x="3470313" y="2655067"/>
            <a:ext cx="82185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Improved Accuracy</a:t>
            </a:r>
          </a:p>
          <a:p>
            <a:r>
              <a:rPr lang="en-US" sz="2100" dirty="0">
                <a:solidFill>
                  <a:schemeClr val="bg1"/>
                </a:solidFill>
              </a:rPr>
              <a:t>Enhanced precision and transparency throughout the entire admissions process.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FF325A-82C6-7843-B855-C8CB7CE94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440" y="2655067"/>
            <a:ext cx="1748755" cy="17487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E5BC598-D6AF-3C9C-5EF8-1D61237AB0A6}"/>
              </a:ext>
            </a:extLst>
          </p:cNvPr>
          <p:cNvSpPr txBox="1"/>
          <p:nvPr/>
        </p:nvSpPr>
        <p:spPr>
          <a:xfrm>
            <a:off x="3580482" y="4968607"/>
            <a:ext cx="78550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Enhanced Reputation</a:t>
            </a:r>
          </a:p>
          <a:p>
            <a:r>
              <a:rPr lang="en-US" sz="2100" dirty="0">
                <a:solidFill>
                  <a:schemeClr val="bg1"/>
                </a:solidFill>
              </a:rPr>
              <a:t>Boosted parent satisfaction and strengthened the school's reputation as a modern, efficient institution.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BEC6A8B-9807-BD07-C0C8-5E7C7D420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08" y="4968607"/>
            <a:ext cx="3007605" cy="101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38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D590316-BF4F-9AC5-4124-C79DEC015D17}"/>
              </a:ext>
            </a:extLst>
          </p:cNvPr>
          <p:cNvSpPr txBox="1"/>
          <p:nvPr/>
        </p:nvSpPr>
        <p:spPr>
          <a:xfrm>
            <a:off x="81763" y="0"/>
            <a:ext cx="121102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u="sng" dirty="0">
                <a:solidFill>
                  <a:schemeClr val="accent1"/>
                </a:solidFill>
              </a:rPr>
              <a:t>Implementation Plan &amp; Timeline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3116A9-AAA8-75A1-7990-7D94AADA8CFA}"/>
              </a:ext>
            </a:extLst>
          </p:cNvPr>
          <p:cNvSpPr txBox="1"/>
          <p:nvPr/>
        </p:nvSpPr>
        <p:spPr>
          <a:xfrm>
            <a:off x="388338" y="514111"/>
            <a:ext cx="610885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28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</a:rPr>
              <a:t>Month 1: Requirement Gathering &amp; Design</a:t>
            </a:r>
          </a:p>
          <a:p>
            <a:pPr>
              <a:buNone/>
            </a:pPr>
            <a:r>
              <a:rPr lang="en-US" sz="2400" dirty="0">
                <a:solidFill>
                  <a:schemeClr val="bg1"/>
                </a:solidFill>
              </a:rPr>
              <a:t>Defining features, user flows, and system architecture</a:t>
            </a:r>
          </a:p>
          <a:p>
            <a:pPr>
              <a:buNone/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AEABE-63DA-8410-7171-0624717C174F}"/>
              </a:ext>
            </a:extLst>
          </p:cNvPr>
          <p:cNvSpPr txBox="1"/>
          <p:nvPr/>
        </p:nvSpPr>
        <p:spPr>
          <a:xfrm>
            <a:off x="6764357" y="1190864"/>
            <a:ext cx="5427642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</a:rPr>
              <a:t>Months 2-3: Development &amp; Testing</a:t>
            </a:r>
          </a:p>
          <a:p>
            <a:pPr>
              <a:buNone/>
            </a:pPr>
            <a:r>
              <a:rPr lang="en-US" sz="2100" dirty="0">
                <a:solidFill>
                  <a:schemeClr val="bg1"/>
                </a:solidFill>
              </a:rPr>
              <a:t>Building the portal and conducting rigorous testing for functionality and security.</a:t>
            </a:r>
          </a:p>
        </p:txBody>
      </p:sp>
      <p:sp>
        <p:nvSpPr>
          <p:cNvPr id="15" name="AutoShape 5" descr="Testing in Software Development">
            <a:extLst>
              <a:ext uri="{FF2B5EF4-FFF2-40B4-BE49-F238E27FC236}">
                <a16:creationId xmlns:a16="http://schemas.microsoft.com/office/drawing/2014/main" id="{D18045CB-3F25-61E6-75BA-9CB2AB3910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7" descr="Testing in Software Development">
            <a:extLst>
              <a:ext uri="{FF2B5EF4-FFF2-40B4-BE49-F238E27FC236}">
                <a16:creationId xmlns:a16="http://schemas.microsoft.com/office/drawing/2014/main" id="{7490EE95-0B2D-3142-ACCA-496FAD77C4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89345" y="420201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59" name="Picture 15">
            <a:extLst>
              <a:ext uri="{FF2B5EF4-FFF2-40B4-BE49-F238E27FC236}">
                <a16:creationId xmlns:a16="http://schemas.microsoft.com/office/drawing/2014/main" id="{F25933EB-8090-5117-3FAA-1B8575612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270" y="3276600"/>
            <a:ext cx="4648244" cy="281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1" name="Picture 17">
            <a:extLst>
              <a:ext uri="{FF2B5EF4-FFF2-40B4-BE49-F238E27FC236}">
                <a16:creationId xmlns:a16="http://schemas.microsoft.com/office/drawing/2014/main" id="{37450408-C543-2148-B152-DB094AC0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38" y="2648303"/>
            <a:ext cx="4891490" cy="2211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3032247-DAF0-5399-02F2-E5D10DB40777}"/>
              </a:ext>
            </a:extLst>
          </p:cNvPr>
          <p:cNvSpPr txBox="1"/>
          <p:nvPr/>
        </p:nvSpPr>
        <p:spPr>
          <a:xfrm>
            <a:off x="275419" y="4859485"/>
            <a:ext cx="61474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1"/>
                </a:solidFill>
              </a:rPr>
              <a:t>Month 4: Launch &amp; Training</a:t>
            </a:r>
          </a:p>
          <a:p>
            <a:pPr>
              <a:buNone/>
            </a:pPr>
            <a:r>
              <a:rPr lang="en-US" sz="2100" dirty="0">
                <a:solidFill>
                  <a:schemeClr val="bg1"/>
                </a:solidFill>
              </a:rPr>
              <a:t>Official rollout of the portal and training for staff and parents.</a:t>
            </a:r>
          </a:p>
        </p:txBody>
      </p:sp>
    </p:spTree>
    <p:extLst>
      <p:ext uri="{BB962C8B-B14F-4D97-AF65-F5344CB8AC3E}">
        <p14:creationId xmlns:p14="http://schemas.microsoft.com/office/powerpoint/2010/main" val="2254531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layground">
            <a:extLst>
              <a:ext uri="{FF2B5EF4-FFF2-40B4-BE49-F238E27FC236}">
                <a16:creationId xmlns:a16="http://schemas.microsoft.com/office/drawing/2014/main" id="{07A38D99-E03D-AA77-984B-1CC6988F9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" y="2228740"/>
            <a:ext cx="6096000" cy="421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1FD490-9BD1-25CD-99A1-762643FC00C6}"/>
              </a:ext>
            </a:extLst>
          </p:cNvPr>
          <p:cNvSpPr txBox="1"/>
          <p:nvPr/>
        </p:nvSpPr>
        <p:spPr>
          <a:xfrm>
            <a:off x="3183875" y="22029"/>
            <a:ext cx="4538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u="sng" dirty="0">
                <a:solidFill>
                  <a:schemeClr val="accent1"/>
                </a:solidFill>
              </a:rPr>
              <a:t>Cocurricular activities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E02E-8431-C3E0-119B-254D339A64AC}"/>
              </a:ext>
            </a:extLst>
          </p:cNvPr>
          <p:cNvSpPr txBox="1"/>
          <p:nvPr/>
        </p:nvSpPr>
        <p:spPr>
          <a:xfrm>
            <a:off x="231354" y="727111"/>
            <a:ext cx="6213513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Bright Future Public School provides playground facilities to encourage games, physical activity, and student motivation.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1FE03-8DDC-503F-0473-182F67EC3AE5}"/>
              </a:ext>
            </a:extLst>
          </p:cNvPr>
          <p:cNvSpPr txBox="1"/>
          <p:nvPr/>
        </p:nvSpPr>
        <p:spPr>
          <a:xfrm>
            <a:off x="6246564" y="594908"/>
            <a:ext cx="5945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The library at Bright Future Public School promotes knowledge, curiosity, and independent learning through a wide range of books and study resources.</a:t>
            </a:r>
          </a:p>
        </p:txBody>
      </p:sp>
      <p:pic>
        <p:nvPicPr>
          <p:cNvPr id="7172" name="Picture 4" descr="Free library Stock Photos &amp; Pictures | FreeImages">
            <a:extLst>
              <a:ext uri="{FF2B5EF4-FFF2-40B4-BE49-F238E27FC236}">
                <a16:creationId xmlns:a16="http://schemas.microsoft.com/office/drawing/2014/main" id="{C939D133-B000-65B3-3969-00EEE1466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866" y="2216659"/>
            <a:ext cx="5563519" cy="4214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661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5233B-3246-0AEA-112E-5CEE7D6647DC}"/>
              </a:ext>
            </a:extLst>
          </p:cNvPr>
          <p:cNvSpPr txBox="1"/>
          <p:nvPr/>
        </p:nvSpPr>
        <p:spPr>
          <a:xfrm>
            <a:off x="2305278" y="1925063"/>
            <a:ext cx="6108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1"/>
                </a:solidFill>
              </a:rPr>
              <a:t>Success Metrics &amp; Future Enhancements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5DC6B-FC37-55DD-1D4A-8AFF177D1D5B}"/>
              </a:ext>
            </a:extLst>
          </p:cNvPr>
          <p:cNvSpPr txBox="1"/>
          <p:nvPr/>
        </p:nvSpPr>
        <p:spPr>
          <a:xfrm>
            <a:off x="223086" y="2274431"/>
            <a:ext cx="610885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1"/>
                </a:solidFill>
              </a:rPr>
              <a:t>Key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Our primary goal is to achieve significant adoption and efficiency: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Target: 90% of all admissions processed online within the first year of operation.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High user satisfaction ratings from both parents and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Demonstrable reduction in administrative time spent on admissions.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bg1"/>
                </a:solidFill>
              </a:rPr>
              <a:t>Improved data accuracy and completeness, with fewer errors in student records due to standardized online forms and validation checks.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BB4BD-8FBA-2016-0B42-FF56C45132BD}"/>
              </a:ext>
            </a:extLst>
          </p:cNvPr>
          <p:cNvSpPr txBox="1"/>
          <p:nvPr/>
        </p:nvSpPr>
        <p:spPr>
          <a:xfrm>
            <a:off x="5994103" y="2323626"/>
            <a:ext cx="610885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   </a:t>
            </a:r>
            <a:r>
              <a:rPr lang="en-US" sz="2400" b="1" dirty="0">
                <a:solidFill>
                  <a:schemeClr val="accent1"/>
                </a:solidFill>
              </a:rPr>
              <a:t>Future Growth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Continuous improvement and expansion are central to our vision: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Implement a feedback system for ongoing enhancements and user-driven improvements.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Integrate online fee payment modules for a fully seamless financial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Develop comprehensive student onboarding modules to welcome new students effectively.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8196" name="Picture 4" descr="500+ Graphs Pictures [HD] | Download Free Images on Unsplash">
            <a:extLst>
              <a:ext uri="{FF2B5EF4-FFF2-40B4-BE49-F238E27FC236}">
                <a16:creationId xmlns:a16="http://schemas.microsoft.com/office/drawing/2014/main" id="{E13422BB-BF1C-22EC-C58B-32A51187B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33051"/>
            <a:ext cx="12192000" cy="1913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3435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787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Wingdings</vt:lpstr>
      <vt:lpstr>Wingdings 3</vt:lpstr>
      <vt:lpstr>Slice</vt:lpstr>
      <vt:lpstr>PowerPoint Presentation</vt:lpstr>
      <vt:lpstr>PowerPoint Presentation</vt:lpstr>
      <vt:lpstr>ABOUT BRIGHT FUTURE PUBLIC SCHOOL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Maaz Hassan</dc:creator>
  <cp:lastModifiedBy>Deuspeu ‎</cp:lastModifiedBy>
  <cp:revision>2</cp:revision>
  <dcterms:created xsi:type="dcterms:W3CDTF">2026-01-02T18:23:23Z</dcterms:created>
  <dcterms:modified xsi:type="dcterms:W3CDTF">2026-01-04T06:33:49Z</dcterms:modified>
</cp:coreProperties>
</file>